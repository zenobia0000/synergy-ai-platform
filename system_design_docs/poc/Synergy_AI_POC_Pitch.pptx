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202124"/>
                </a:solidFill>
                <a:latin typeface="Noto Sans TC"/>
              </a:defRPr>
            </a:pPr>
            <a:r>
              <a:t>Synergy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5F6368"/>
                </a:solidFill>
                <a:latin typeface="Noto Sans TC"/>
              </a:defRPr>
            </a:pPr>
            <a:r>
              <a:t>健康管理事業 AI 營運平台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85F4"/>
                </a:solidFill>
                <a:latin typeface="Noto Sans TC"/>
              </a:defRPr>
            </a:pPr>
            <a:r>
              <a:t>POC 提案簡報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85F4"/>
                </a:solidFill>
                <a:latin typeface="Noto Sans TC"/>
              </a:defRPr>
            </a:pPr>
            <a:r>
              <a:t>先吸引、再分流、後複製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AA0A6"/>
                </a:solidFill>
                <a:latin typeface="Noto Sans TC"/>
              </a:defRPr>
            </a:pPr>
            <a:r>
              <a:t>2026-04-22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痛點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2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124"/>
                </a:solidFill>
                <a:latin typeface="Noto Sans TC"/>
              </a:defRPr>
            </a:pPr>
            <a:r>
              <a:t>你的痛點，我們都聽見了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47472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02124"/>
                </a:solidFill>
                <a:latin typeface="Noto Sans TC"/>
              </a:defRPr>
            </a:pPr>
            <a: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02124"/>
                </a:solidFill>
                <a:latin typeface="Noto Sans TC"/>
              </a:defRPr>
            </a:pPr>
            <a:r>
              <a:t>行銷內容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Noto Sans TC"/>
              </a:defRPr>
            </a:pPr>
            <a:r>
              <a:t>手動寫文、品質不穩、產量有限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4335"/>
                </a:solidFill>
                <a:latin typeface="Noto Sans TC"/>
              </a:defRPr>
            </a:pPr>
            <a:r>
              <a:t>→ 曝光不夠，錯過熱點時機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291840" cy="347472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02124"/>
                </a:solidFill>
                <a:latin typeface="Noto Sans TC"/>
              </a:defRPr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02124"/>
                </a:solidFill>
                <a:latin typeface="Noto Sans TC"/>
              </a:defRPr>
            </a:pPr>
            <a:r>
              <a:t>潛客篩選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83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Noto Sans TC"/>
              </a:defRPr>
            </a:pPr>
            <a:r>
              <a:t>憑經驗判斷、容易誤判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297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4335"/>
                </a:solidFill>
                <a:latin typeface="Noto Sans TC"/>
              </a:defRPr>
            </a:pPr>
            <a:r>
              <a:t>→ 高潛力客戶流失，時間浪費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291840" cy="347472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02124"/>
                </a:solidFill>
                <a:latin typeface="Noto Sans TC"/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02124"/>
                </a:solidFill>
                <a:latin typeface="Noto Sans TC"/>
              </a:defRPr>
            </a:pPr>
            <a:r>
              <a:t>團隊管理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Noto Sans TC"/>
              </a:defRPr>
            </a:pPr>
            <a:r>
              <a:t>口頭追蹤、沒有數據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297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A4335"/>
                </a:solidFill>
                <a:latin typeface="Noto Sans TC"/>
              </a:defRPr>
            </a:pPr>
            <a:r>
              <a:t>→ 成功模式無法複製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Noto Sans TC"/>
              </a:defRPr>
            </a:pPr>
            <a:r>
              <a:t>核心矛盾：事業要規模化，但每件事都還在靠「人力撐」。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問題 → 解法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3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124"/>
                </a:solidFill>
                <a:latin typeface="Noto Sans TC"/>
              </a:defRPr>
            </a:pPr>
            <a:r>
              <a:t>AI 導入前後對比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096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情境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現況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AI 導入後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一篇社群貼文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A4335"/>
                          </a:solidFill>
                          <a:latin typeface="Noto Sans TC"/>
                        </a:defRPr>
                      </a:pPr>
                      <a:r>
                        <a:t>手動 30–60 分鐘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AI 產出 &lt; 30 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問卷評估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A4335"/>
                          </a:solidFill>
                          <a:latin typeface="Noto Sans TC"/>
                        </a:defRPr>
                      </a:pPr>
                      <a:r>
                        <a:t>人工判讀 15–20 分鐘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AI 即時分析 &lt; 15 秒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名單分級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A4335"/>
                          </a:solidFill>
                          <a:latin typeface="Noto Sans TC"/>
                        </a:defRPr>
                      </a:pPr>
                      <a:r>
                        <a:t>靠感覺、靠經驗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量化評分，準確率 ≥ 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目標追蹤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A4335"/>
                          </a:solidFill>
                          <a:latin typeface="Noto Sans TC"/>
                        </a:defRPr>
                      </a:pPr>
                      <a:r>
                        <a:t>口頭確認 / Excel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即時儀表板，隨時掌握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新人上手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EA4335"/>
                          </a:solidFill>
                          <a:latin typeface="Noto Sans TC"/>
                        </a:defRPr>
                      </a:pPr>
                      <a:r>
                        <a:t>數週摸索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系統引導，30 分鐘上手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85F4"/>
                </a:solidFill>
                <a:latin typeface="Noto Sans TC"/>
              </a:defRPr>
            </a:pPr>
            <a:r>
              <a:t>這不是未來式，這是 13 週後的樣子。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解法框架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4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Noto Sans TC"/>
              </a:defRPr>
            </a:pPr>
            <a:r>
              <a:t>三大 AI 模組 — 先吸引、再分流、後複製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09728" cy="12344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02124"/>
                </a:solidFill>
                <a:latin typeface="Noto Sans TC"/>
              </a:defRPr>
            </a:pPr>
            <a:r>
              <a:t>模組 1：AI 獲客行銷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Noto Sans TC"/>
              </a:defRPr>
            </a:pPr>
            <a:r>
              <a:t>AI 生成貼文 → 多平台自動發布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194560"/>
            <a:ext cx="1828800" cy="45720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TC"/>
              </a:defRPr>
            </a:pPr>
            <a:r>
              <a:t>先吸引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108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AA0A6"/>
                </a:solidFill>
                <a:latin typeface="Noto Sans TC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520440"/>
            <a:ext cx="109728" cy="123444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02124"/>
                </a:solidFill>
                <a:latin typeface="Noto Sans TC"/>
              </a:defRPr>
            </a:pPr>
            <a:r>
              <a:t>模組 2：AI 問卷評估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Noto Sans TC"/>
              </a:defRPr>
            </a:pPr>
            <a:r>
              <a:t>隱私問卷 → AI 分析 → 名單分級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703320"/>
            <a:ext cx="1828800" cy="45720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TC"/>
              </a:defRPr>
            </a:pPr>
            <a:r>
              <a:t>再分流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617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AA0A6"/>
                </a:solidFill>
                <a:latin typeface="Noto Sans TC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29200"/>
            <a:ext cx="109728" cy="123444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02124"/>
                </a:solidFill>
                <a:latin typeface="Noto Sans TC"/>
              </a:defRPr>
            </a:pPr>
            <a:r>
              <a:t>模組 6：AI 團隊管理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Noto Sans TC"/>
              </a:defRPr>
            </a:pPr>
            <a:r>
              <a:t>目標追蹤 → 績效看板 → 培訓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5212080"/>
            <a:ext cx="1828800" cy="457200"/>
          </a:xfrm>
          <a:prstGeom prst="roundRect">
            <a:avLst>
              <a:gd name="adj" fmla="val 1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oto Sans TC"/>
              </a:defRPr>
            </a:pPr>
            <a:r>
              <a:t>後複製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Noto Sans TC"/>
              </a:defRPr>
            </a:pPr>
            <a:r>
              <a:t>三個模組各自獨立可用，整合後形成完整業務飛輪。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模組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5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124"/>
                </a:solidFill>
                <a:latin typeface="Noto Sans TC"/>
              </a:defRPr>
            </a:pPr>
            <a:r>
              <a:t>AI 獲客行銷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85F4"/>
                </a:solidFill>
                <a:latin typeface="Noto Sans TC"/>
              </a:defRPr>
            </a:pPr>
            <a:r>
              <a:t>讓內容產出從「耗時」變「秒出」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Noto Sans TC"/>
              </a:defRPr>
            </a:pPr>
            <a:r>
              <a:t>功能亮點</a:t>
            </a:r>
          </a:p>
          <a:p>
            <a:pPr>
              <a:spcBef>
                <a:spcPts val="400"/>
              </a:spcBef>
              <a:defRPr sz="1500" b="0">
                <a:solidFill>
                  <a:srgbClr val="5F6368"/>
                </a:solidFill>
                <a:latin typeface="Noto Sans TC"/>
              </a:defRPr>
            </a:pPr>
            <a:r>
              <a:t>•  AI 自動生成貼文文案 + 配圖建議</a:t>
            </a:r>
          </a:p>
          <a:p>
            <a:pPr>
              <a:spcBef>
                <a:spcPts val="400"/>
              </a:spcBef>
              <a:defRPr sz="1500" b="0">
                <a:solidFill>
                  <a:srgbClr val="5F6368"/>
                </a:solidFill>
                <a:latin typeface="Noto Sans TC"/>
              </a:defRPr>
            </a:pPr>
            <a:r>
              <a:t>•  多平台排程發布：FB / IG / LINE 一鍵搞定</a:t>
            </a:r>
          </a:p>
          <a:p>
            <a:pPr>
              <a:spcBef>
                <a:spcPts val="400"/>
              </a:spcBef>
              <a:defRPr sz="1500" b="0">
                <a:solidFill>
                  <a:srgbClr val="5F6368"/>
                </a:solidFill>
                <a:latin typeface="Noto Sans TC"/>
              </a:defRPr>
            </a:pPr>
            <a:r>
              <a:t>•  SEO 落地頁自動生成，吸引自然流量</a:t>
            </a:r>
          </a:p>
          <a:p>
            <a:pPr>
              <a:spcBef>
                <a:spcPts val="400"/>
              </a:spcBef>
              <a:defRPr sz="1500" b="0">
                <a:solidFill>
                  <a:srgbClr val="5F6368"/>
                </a:solidFill>
                <a:latin typeface="Noto Sans TC"/>
              </a:defRPr>
            </a:pPr>
            <a:r>
              <a:t>•  內容行事曆：活動預排不遺漏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194560"/>
            <a:ext cx="4572000" cy="274320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85F4"/>
                </a:solidFill>
                <a:latin typeface="Noto Sans TC"/>
              </a:defRPr>
            </a:pPr>
            <a:r>
              <a:t>衡量指標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Noto Sans TC"/>
              </a:defRPr>
            </a:pPr>
            <a:r>
              <a:t>產出速度</a:t>
            </a:r>
          </a:p>
          <a:p>
            <a:pPr algn="l">
              <a:spcBef>
                <a:spcPts val="200"/>
              </a:spcBef>
              <a:defRPr sz="1600" b="1">
                <a:solidFill>
                  <a:srgbClr val="4285F4"/>
                </a:solidFill>
                <a:latin typeface="Noto Sans TC"/>
              </a:defRPr>
            </a:pPr>
            <a:r>
              <a:t>提升 ≥ 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520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Noto Sans TC"/>
              </a:defRPr>
            </a:pPr>
            <a:r>
              <a:t>月內容產量</a:t>
            </a:r>
          </a:p>
          <a:p>
            <a:pPr algn="l">
              <a:spcBef>
                <a:spcPts val="200"/>
              </a:spcBef>
              <a:defRPr sz="1600" b="1">
                <a:solidFill>
                  <a:srgbClr val="4285F4"/>
                </a:solidFill>
                <a:latin typeface="Noto Sans TC"/>
              </a:defRPr>
            </a:pPr>
            <a:r>
              <a:t>3 倍（不增人力）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Noto Sans TC"/>
              </a:defRPr>
            </a:pPr>
            <a:r>
              <a:t>發布一致性</a:t>
            </a:r>
          </a:p>
          <a:p>
            <a:pPr algn="l">
              <a:spcBef>
                <a:spcPts val="200"/>
              </a:spcBef>
              <a:defRPr sz="1600" b="1">
                <a:solidFill>
                  <a:srgbClr val="4285F4"/>
                </a:solidFill>
                <a:latin typeface="Noto Sans TC"/>
              </a:defRPr>
            </a:pPr>
            <a:r>
              <a:t>達成率 ≥ 90%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模組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6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124"/>
                </a:solidFill>
                <a:latin typeface="Noto Sans TC"/>
              </a:defRPr>
            </a:pPr>
            <a:r>
              <a:t>AI 問卷評估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4A853"/>
                </a:solidFill>
                <a:latin typeface="Noto Sans TC"/>
              </a:defRPr>
            </a:pPr>
            <a:r>
              <a:t>讓每一個潛客都得到精準的第一印象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Noto Sans TC"/>
              </a:defRPr>
            </a:pPr>
            <a:r>
              <a:t>功能亮點</a:t>
            </a:r>
          </a:p>
          <a:p>
            <a:pPr>
              <a:spcBef>
                <a:spcPts val="400"/>
              </a:spcBef>
              <a:defRPr sz="1500" b="0">
                <a:solidFill>
                  <a:srgbClr val="5F6368"/>
                </a:solidFill>
                <a:latin typeface="Noto Sans TC"/>
              </a:defRPr>
            </a:pPr>
            <a:r>
              <a:t>•  隱私友善的分段式問卷（不嚇跑使用者）</a:t>
            </a:r>
          </a:p>
          <a:p>
            <a:pPr>
              <a:spcBef>
                <a:spcPts val="400"/>
              </a:spcBef>
              <a:defRPr sz="1500" b="0">
                <a:solidFill>
                  <a:srgbClr val="5F6368"/>
                </a:solidFill>
                <a:latin typeface="Noto Sans TC"/>
              </a:defRPr>
            </a:pPr>
            <a:r>
              <a:t>•  AI 即時健康評估 + 個人化產品推薦</a:t>
            </a:r>
          </a:p>
          <a:p>
            <a:pPr>
              <a:spcBef>
                <a:spcPts val="400"/>
              </a:spcBef>
              <a:defRPr sz="1500" b="0">
                <a:solidFill>
                  <a:srgbClr val="5F6368"/>
                </a:solidFill>
                <a:latin typeface="Noto Sans TC"/>
              </a:defRPr>
            </a:pPr>
            <a:r>
              <a:t>•  名單自動分級：高 / 中 / 低潛力</a:t>
            </a:r>
          </a:p>
          <a:p>
            <a:pPr>
              <a:spcBef>
                <a:spcPts val="400"/>
              </a:spcBef>
              <a:defRPr sz="1500" b="0">
                <a:solidFill>
                  <a:srgbClr val="5F6368"/>
                </a:solidFill>
                <a:latin typeface="Noto Sans TC"/>
              </a:defRPr>
            </a:pPr>
            <a:r>
              <a:t>•  智慧分流規則引擎：依評分自動觸發行動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194560"/>
            <a:ext cx="4572000" cy="2743200"/>
          </a:xfrm>
          <a:prstGeom prst="roundRect">
            <a:avLst>
              <a:gd name="adj" fmla="val 3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A853"/>
                </a:solidFill>
                <a:latin typeface="Noto Sans TC"/>
              </a:defRPr>
            </a:pPr>
            <a:r>
              <a:t>衡量指標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Noto Sans TC"/>
              </a:defRPr>
            </a:pPr>
            <a:r>
              <a:t>問卷完成率</a:t>
            </a:r>
          </a:p>
          <a:p>
            <a:pPr algn="l">
              <a:spcBef>
                <a:spcPts val="200"/>
              </a:spcBef>
              <a:defRPr sz="1600" b="1">
                <a:solidFill>
                  <a:srgbClr val="34A853"/>
                </a:solidFill>
                <a:latin typeface="Noto Sans TC"/>
              </a:defRPr>
            </a:pPr>
            <a:r>
              <a:t>≥ 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520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Noto Sans TC"/>
              </a:defRPr>
            </a:pPr>
            <a:r>
              <a:t>AI 推薦準確率</a:t>
            </a:r>
          </a:p>
          <a:p>
            <a:pPr algn="l">
              <a:spcBef>
                <a:spcPts val="200"/>
              </a:spcBef>
              <a:defRPr sz="1600" b="1">
                <a:solidFill>
                  <a:srgbClr val="34A853"/>
                </a:solidFill>
                <a:latin typeface="Noto Sans TC"/>
              </a:defRPr>
            </a:pPr>
            <a:r>
              <a:t>≥ 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Noto Sans TC"/>
              </a:defRPr>
            </a:pPr>
            <a:r>
              <a:t>轉化率</a:t>
            </a:r>
          </a:p>
          <a:p>
            <a:pPr algn="l">
              <a:spcBef>
                <a:spcPts val="200"/>
              </a:spcBef>
              <a:defRPr sz="1600" b="1">
                <a:solidFill>
                  <a:srgbClr val="34A853"/>
                </a:solidFill>
                <a:latin typeface="Noto Sans TC"/>
              </a:defRPr>
            </a:pPr>
            <a:r>
              <a:t>較現況提升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4754880"/>
            <a:ext cx="3840480" cy="411480"/>
          </a:xfrm>
          <a:prstGeom prst="roundRect">
            <a:avLst>
              <a:gd name="adj" fmla="val 1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Noto Sans TC"/>
              </a:defRPr>
            </a:pPr>
            <a:r>
              <a:t>✅ POC v1 已完成 — 核心引擎已驗證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模組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7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124"/>
                </a:solidFill>
                <a:latin typeface="Noto Sans TC"/>
              </a:defRPr>
            </a:pPr>
            <a:r>
              <a:t>AI 團隊管理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B1FA2"/>
                </a:solidFill>
                <a:latin typeface="Noto Sans TC"/>
              </a:defRPr>
            </a:pPr>
            <a:r>
              <a:t>讓「成功模式」可以被看見、被複製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Noto Sans TC"/>
              </a:defRPr>
            </a:pPr>
            <a:r>
              <a:t>功能亮點</a:t>
            </a:r>
          </a:p>
          <a:p>
            <a:pPr>
              <a:spcBef>
                <a:spcPts val="400"/>
              </a:spcBef>
              <a:defRPr sz="1500" b="0">
                <a:solidFill>
                  <a:srgbClr val="5F6368"/>
                </a:solidFill>
                <a:latin typeface="Noto Sans TC"/>
              </a:defRPr>
            </a:pPr>
            <a:r>
              <a:t>•  個人 + 團隊月目標設定</a:t>
            </a:r>
          </a:p>
          <a:p>
            <a:pPr>
              <a:spcBef>
                <a:spcPts val="400"/>
              </a:spcBef>
              <a:defRPr sz="1500" b="0">
                <a:solidFill>
                  <a:srgbClr val="5F6368"/>
                </a:solidFill>
                <a:latin typeface="Noto Sans TC"/>
              </a:defRPr>
            </a:pPr>
            <a:r>
              <a:t>•  即時績效儀表板（不用等月底對帳）</a:t>
            </a:r>
          </a:p>
          <a:p>
            <a:pPr>
              <a:spcBef>
                <a:spcPts val="400"/>
              </a:spcBef>
              <a:defRPr sz="1500" b="0">
                <a:solidFill>
                  <a:srgbClr val="5F6368"/>
                </a:solidFill>
                <a:latin typeface="Noto Sans TC"/>
              </a:defRPr>
            </a:pPr>
            <a:r>
              <a:t>•  MEGA 培訓進度追蹤</a:t>
            </a:r>
          </a:p>
          <a:p>
            <a:pPr>
              <a:spcBef>
                <a:spcPts val="400"/>
              </a:spcBef>
              <a:defRPr sz="1500" b="0">
                <a:solidFill>
                  <a:srgbClr val="5F6368"/>
                </a:solidFill>
                <a:latin typeface="Noto Sans TC"/>
              </a:defRPr>
            </a:pPr>
            <a:r>
              <a:t>•  落後自動告警（提前預警）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194560"/>
            <a:ext cx="4572000" cy="2743200"/>
          </a:xfrm>
          <a:prstGeom prst="roundRect">
            <a:avLst>
              <a:gd name="adj" fmla="val 3000"/>
            </a:avLst>
          </a:prstGeom>
          <a:solidFill>
            <a:srgbClr val="F3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1FA2"/>
                </a:solidFill>
                <a:latin typeface="Noto Sans TC"/>
              </a:defRPr>
            </a:pPr>
            <a:r>
              <a:t>衡量指標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Noto Sans TC"/>
              </a:defRPr>
            </a:pPr>
            <a:r>
              <a:t>主管週使用率</a:t>
            </a:r>
          </a:p>
          <a:p>
            <a:pPr algn="l">
              <a:spcBef>
                <a:spcPts val="200"/>
              </a:spcBef>
              <a:defRPr sz="1600" b="1">
                <a:solidFill>
                  <a:srgbClr val="7B1FA2"/>
                </a:solidFill>
                <a:latin typeface="Noto Sans TC"/>
              </a:defRPr>
            </a:pPr>
            <a:r>
              <a:t>≥ 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520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Noto Sans TC"/>
              </a:defRPr>
            </a:pPr>
            <a:r>
              <a:t>目標達成率</a:t>
            </a:r>
          </a:p>
          <a:p>
            <a:pPr algn="l">
              <a:spcBef>
                <a:spcPts val="200"/>
              </a:spcBef>
              <a:defRPr sz="1600" b="1">
                <a:solidFill>
                  <a:srgbClr val="7B1FA2"/>
                </a:solidFill>
                <a:latin typeface="Noto Sans TC"/>
              </a:defRPr>
            </a:pPr>
            <a:r>
              <a:t>提升對比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124"/>
                </a:solidFill>
                <a:latin typeface="Noto Sans TC"/>
              </a:defRPr>
            </a:pPr>
            <a:r>
              <a:t>新人完訓時間</a:t>
            </a:r>
          </a:p>
          <a:p>
            <a:pPr algn="l">
              <a:spcBef>
                <a:spcPts val="200"/>
              </a:spcBef>
              <a:defRPr sz="1600" b="1">
                <a:solidFill>
                  <a:srgbClr val="7B1FA2"/>
                </a:solidFill>
                <a:latin typeface="Noto Sans TC"/>
              </a:defRPr>
            </a:pPr>
            <a:r>
              <a:t>縮短 ≥ 30%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信任基礎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8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02124"/>
                </a:solidFill>
                <a:latin typeface="Noto Sans TC"/>
              </a:defRPr>
            </a:pPr>
            <a:r>
              <a:t>不是從零開始 — 我們已經走了這麼遠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項目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已驗證 ✅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POC 擴展方向 →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2 POC v1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問卷 → AI 分析 → 產品推薦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+ 名單分級 + 分流引擎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1 基礎架構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多平台分發 + n8n 自動化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+ AI 內容生成 + 排程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技術棧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FastAPI + React + LiteLLM + Gemini + PostgreSQL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+ 模組 6 全新開發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937760"/>
            <a:ext cx="10515600" cy="118872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285F4"/>
                </a:solidFill>
                <a:latin typeface="Noto Sans TC"/>
              </a:defRPr>
            </a:pPr>
            <a:r>
              <a:t>這代表什麼？</a:t>
            </a:r>
          </a:p>
          <a:p>
            <a:pPr>
              <a:spcBef>
                <a:spcPts val="400"/>
              </a:spcBef>
              <a:defRPr sz="1400" b="0">
                <a:solidFill>
                  <a:srgbClr val="202124"/>
                </a:solidFill>
                <a:latin typeface="Noto Sans TC"/>
              </a:defRPr>
            </a:pPr>
            <a:r>
              <a:t>✅  技術可行性已驗證 — 不是概念，是跑得動的系統</a:t>
            </a:r>
          </a:p>
          <a:p>
            <a:pPr>
              <a:spcBef>
                <a:spcPts val="400"/>
              </a:spcBef>
              <a:defRPr sz="1400" b="0">
                <a:solidFill>
                  <a:srgbClr val="202124"/>
                </a:solidFill>
                <a:latin typeface="Noto Sans TC"/>
              </a:defRPr>
            </a:pPr>
            <a:r>
              <a:t>✅  風險在已知範圍內 — 不是在黑盒子裡摸索</a:t>
            </a:r>
          </a:p>
          <a:p>
            <a:pPr>
              <a:spcBef>
                <a:spcPts val="400"/>
              </a:spcBef>
              <a:defRPr sz="1400" b="0">
                <a:solidFill>
                  <a:srgbClr val="202124"/>
                </a:solidFill>
                <a:latin typeface="Noto Sans TC"/>
              </a:defRPr>
            </a:pPr>
            <a:r>
              <a:t>✅  POC 的每一週都在真實交付物上推進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時程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9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124"/>
                </a:solidFill>
                <a:latin typeface="Noto Sans TC"/>
              </a:defRPr>
            </a:pPr>
            <a:r>
              <a:t>13 週 · 5 階段 · 5 個里程碑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804672" cy="640080"/>
          </a:xfrm>
          <a:prstGeom prst="roundRect">
            <a:avLst>
              <a:gd name="adj" fmla="val 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基礎建設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W1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09344" y="2377440"/>
            <a:ext cx="2414016" cy="640080"/>
          </a:xfrm>
          <a:prstGeom prst="roundRect">
            <a:avLst>
              <a:gd name="adj" fmla="val 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模組 2 補強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9344" y="3063240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W2–W4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6512" y="2377440"/>
            <a:ext cx="2414016" cy="640080"/>
          </a:xfrm>
          <a:prstGeom prst="roundRect">
            <a:avLst>
              <a:gd name="adj" fmla="val 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模組 1 補強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6512" y="3063240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W5–W7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377440"/>
            <a:ext cx="3218688" cy="640080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模組 6 開發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63240"/>
            <a:ext cx="32186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W8–W11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2377440"/>
            <a:ext cx="1609344" cy="640080"/>
          </a:xfrm>
          <a:prstGeom prst="roundRect">
            <a:avLst>
              <a:gd name="adj" fmla="val 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整合+UAT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3063240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W12–13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347472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267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里程碑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時間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交付物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M1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W1 (05/04)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共通基礎就緒（CI/CD、DB、認證）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W4 (05/25)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2 完整走通 — 業務可實際試用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M3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W7 (06/15)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1 完整走通 — 第一批 AI 貼文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M4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W11 (07/13)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6 完整走通 — 儀表板上線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M5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W13 (07/27)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三模組整合 · UAT · POC Demo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85F4"/>
                </a:solidFill>
                <a:latin typeface="Noto Sans TC"/>
              </a:defRPr>
            </a:pPr>
            <a:r>
              <a:t>每個里程碑都是真實可展示的系統，不是 PPT。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合作模式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10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124"/>
                </a:solidFill>
                <a:latin typeface="Noto Sans TC"/>
              </a:defRPr>
            </a:pPr>
            <a:r>
              <a:t>合夥共創 — 不是傳統甲乙方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面向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做法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需求定義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雙方共同定義，不是單方丟規格書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驗收方式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每階段 Gate Review，雙方共同確認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決策機制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業務方向：客戶拍板 ｜ 技術實作：開發拍板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同步節奏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每週定期 Check-in（30 分鐘）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問題處理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Slack / 即時通訊，24 小時內回應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303520"/>
            <a:ext cx="10515600" cy="73152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949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285F4"/>
                </a:solidFill>
                <a:latin typeface="Noto Sans TC"/>
              </a:defRPr>
            </a:pPr>
            <a:r>
              <a:t>你的業務知識 ＋ 我們的技術能力 ＝ 真正可用的系統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投資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11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124"/>
                </a:solidFill>
                <a:latin typeface="Noto Sans TC"/>
              </a:defRPr>
            </a:pPr>
            <a:r>
              <a:t>投資與報價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11480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Noto Sans TC"/>
              </a:defRPr>
            </a:pPr>
            <a:r>
              <a:t>方案 A — 固定費用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Noto Sans TC"/>
              </a:defRPr>
            </a:pPr>
            <a:r>
              <a:t>POC 開發費</a:t>
            </a:r>
            <a:r>
              <a:rPr sz="1400" b="1">
                <a:solidFill>
                  <a:srgbClr val="202124"/>
                </a:solidFill>
                <a:latin typeface="Noto Sans TC"/>
              </a:rPr>
              <a:t>    NT$ 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Noto Sans TC"/>
              </a:defRPr>
            </a:pPr>
            <a:r>
              <a:t>技術基礎設施</a:t>
            </a:r>
            <a:r>
              <a:rPr sz="1400" b="1">
                <a:solidFill>
                  <a:srgbClr val="202124"/>
                </a:solidFill>
                <a:latin typeface="Noto Sans TC"/>
              </a:rPr>
              <a:t>    ~NT$ 10,000–30,000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Noto Sans TC"/>
              </a:defRPr>
            </a:pPr>
            <a:r>
              <a:t>（LLM API + 雲端主機）</a:t>
            </a:r>
            <a:r>
              <a:rPr sz="1400" b="1">
                <a:solidFill>
                  <a:srgbClr val="202124"/>
                </a:solidFill>
                <a:latin typeface="Noto Sans TC"/>
              </a:rPr>
              <a:t>    實報實銷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85F4"/>
                </a:solidFill>
                <a:latin typeface="Noto Sans TC"/>
              </a:defRPr>
            </a:pPr>
            <a:r>
              <a:t>合計：NT$ _______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03520" cy="411480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920240"/>
            <a:ext cx="182880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推薦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Noto Sans TC"/>
              </a:defRPr>
            </a:pPr>
            <a:r>
              <a:t>方案 B — 分階段付款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92240" y="2743200"/>
          <a:ext cx="4754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節點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比例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觸發條件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簽約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Charter 簽核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2 走通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M4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6 走通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M5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Demo + 驗收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9224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85F4"/>
                </a:solidFill>
                <a:latin typeface="Noto Sans TC"/>
              </a:defRPr>
            </a:pPr>
            <a:r>
              <a:t>每一筆錢都對應一個真實交付物。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12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124"/>
                </a:solidFill>
                <a:latin typeface="Noto Sans TC"/>
              </a:defRPr>
            </a:pPr>
            <a:r>
              <a:t>為什麼值得這筆投資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84048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73152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4"/>
                </a:solidFill>
                <a:latin typeface="Noto Sans TC"/>
              </a:defRPr>
            </a:pPr>
            <a:r>
              <a:t>💰  人力節省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368"/>
                </a:solidFill>
                <a:latin typeface="Noto Sans TC"/>
              </a:defRPr>
            </a:pPr>
            <a:r>
              <a:t>每位經營者每天省 1–2 小時</a:t>
            </a:r>
            <a:br/>
            <a:r>
              <a:t>10 人團隊，月省 15 萬工時成本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011680"/>
            <a:ext cx="2560320" cy="384048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560320" cy="7315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4"/>
                </a:solidFill>
                <a:latin typeface="Noto Sans TC"/>
              </a:defRPr>
            </a:pPr>
            <a:r>
              <a:t>📈  轉化率提升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368"/>
                </a:solidFill>
                <a:latin typeface="Noto Sans TC"/>
              </a:defRPr>
            </a:pPr>
            <a:r>
              <a:t>結構化問卷 + AI 分級</a:t>
            </a:r>
            <a:br/>
            <a:r>
              <a:t>轉化率即使只提升 5%</a:t>
            </a:r>
            <a:br/>
            <a:r>
              <a:t>業績以倍數計算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2560320" cy="384048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2560320" cy="73152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4"/>
                </a:solidFill>
                <a:latin typeface="Noto Sans TC"/>
              </a:defRPr>
            </a:pPr>
            <a:r>
              <a:t>🔄  複製速度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368"/>
                </a:solidFill>
                <a:latin typeface="Noto Sans TC"/>
              </a:defRPr>
            </a:pPr>
            <a:r>
              <a:t>新人 30 分鐘上手</a:t>
            </a:r>
            <a:br/>
            <a:r>
              <a:t>成功模式數據化</a:t>
            </a:r>
            <a:br/>
            <a:r>
              <a:t>可複製到下一個市場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011680"/>
            <a:ext cx="2560320" cy="384048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40" y="2011680"/>
            <a:ext cx="2560320" cy="73152"/>
          </a:xfrm>
          <a:prstGeom prst="round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124"/>
                </a:solidFill>
                <a:latin typeface="Noto Sans TC"/>
              </a:defRPr>
            </a:pPr>
            <a:r>
              <a:t>🗄️  數據資產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92608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F6368"/>
                </a:solidFill>
                <a:latin typeface="Noto Sans TC"/>
              </a:defRPr>
            </a:pPr>
            <a:r>
              <a:t>問卷 + 行為數據</a:t>
            </a:r>
            <a:br/>
            <a:r>
              <a:t>是公司長期資產</a:t>
            </a:r>
            <a:br/>
            <a:r>
              <a:t>POC 數據直接延用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風險控管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13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124"/>
                </a:solidFill>
                <a:latin typeface="Noto Sans TC"/>
              </a:defRPr>
            </a:pPr>
            <a:r>
              <a:t>風險控管 — 你的錢花在刀口上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256032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73152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Noto Sans TC"/>
              </a:defRPr>
            </a:pPr>
            <a:r>
              <a:t>分階段付款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Noto Sans TC"/>
              </a:defRPr>
            </a:pPr>
            <a:r>
              <a:t>每個里程碑交付並驗收後</a:t>
            </a:r>
            <a:br/>
            <a:r>
              <a:t>才觸發下一筆付款</a:t>
            </a:r>
            <a:br/>
            <a:r>
              <a:t>資金風險是分散的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011680"/>
            <a:ext cx="3383280" cy="256032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59" y="2011680"/>
            <a:ext cx="3383280" cy="7315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Noto Sans TC"/>
              </a:defRPr>
            </a:pPr>
            <a:r>
              <a:t>Go / No-Go 機制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926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Noto Sans TC"/>
              </a:defRPr>
            </a:pPr>
            <a:r>
              <a:t>POC 結束有明確決策框架</a:t>
            </a:r>
            <a:br/>
            <a:r>
              <a:t>不會因為已付錢</a:t>
            </a:r>
            <a:br/>
            <a:r>
              <a:t>就被綁架繼續投入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3383280" cy="256032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383280" cy="73152"/>
          </a:xfrm>
          <a:prstGeom prst="round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124"/>
                </a:solidFill>
                <a:latin typeface="Noto Sans TC"/>
              </a:defRPr>
            </a:pPr>
            <a:r>
              <a:t>Pivot 選項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26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Noto Sans TC"/>
              </a:defRPr>
            </a:pPr>
            <a:r>
              <a:t>某個方向跑不通</a:t>
            </a:r>
            <a:br/>
            <a:r>
              <a:t>我們有能力調整</a:t>
            </a:r>
            <a:br/>
            <a:r>
              <a:t>而非全部重來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10515600" cy="1371600"/>
          </a:xfrm>
          <a:prstGeom prst="roundRect">
            <a:avLst>
              <a:gd name="adj" fmla="val 3000"/>
            </a:avLst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2920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Noto Sans TC"/>
              </a:defRPr>
            </a:pPr>
            <a:r>
              <a:t>POC Demo 後的決策路徑</a:t>
            </a:r>
          </a:p>
          <a:p>
            <a:pPr>
              <a:spcBef>
                <a:spcPts val="400"/>
              </a:spcBef>
              <a:defRPr sz="1300" b="1">
                <a:solidFill>
                  <a:srgbClr val="34A853"/>
                </a:solidFill>
                <a:latin typeface="Noto Sans TC"/>
              </a:defRPr>
            </a:pPr>
            <a:r>
              <a:t>✅  三模組達標 → 進入正式版（加 3 個模組）</a:t>
            </a:r>
          </a:p>
          <a:p>
            <a:pPr>
              <a:spcBef>
                <a:spcPts val="400"/>
              </a:spcBef>
              <a:defRPr sz="1300" b="1">
                <a:solidFill>
                  <a:srgbClr val="FBBC05"/>
                </a:solidFill>
                <a:latin typeface="Noto Sans TC"/>
              </a:defRPr>
            </a:pPr>
            <a:r>
              <a:t>🔄  部分達標 → 4 週改善衝刺後重新評估</a:t>
            </a:r>
          </a:p>
          <a:p>
            <a:pPr>
              <a:spcBef>
                <a:spcPts val="400"/>
              </a:spcBef>
              <a:defRPr sz="1300" b="1">
                <a:solidFill>
                  <a:srgbClr val="EA4335"/>
                </a:solidFill>
                <a:latin typeface="Noto Sans TC"/>
              </a:defRPr>
            </a:pPr>
            <a:r>
              <a:t>⏹️  未達標 → 停止投入，交付技術報告 + 學習成果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共同責任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14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02124"/>
                </a:solidFill>
                <a:latin typeface="Noto Sans TC"/>
              </a:defRPr>
            </a:pPr>
            <a:r>
              <a:t>你需要準備什麼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20040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73152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85F4"/>
                </a:solidFill>
                <a:latin typeface="Noto Sans TC"/>
              </a:defRPr>
            </a:pPr>
            <a:r>
              <a:t>Phase 0</a:t>
            </a:r>
            <a:br/>
            <a:r>
              <a:t>4/28 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Noto Sans TC"/>
              </a:defRPr>
            </a:pPr>
            <a:r>
              <a:t>領域知識文件</a:t>
            </a:r>
            <a:br/>
            <a:r>
              <a:t>核心業務指標定義</a:t>
            </a:r>
            <a:br/>
            <a:r>
              <a:t>指定 1 位業務窗口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011680"/>
            <a:ext cx="2560320" cy="320040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2011680"/>
            <a:ext cx="2560320" cy="7315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A853"/>
                </a:solidFill>
                <a:latin typeface="Noto Sans TC"/>
              </a:defRPr>
            </a:pPr>
            <a:r>
              <a:t>Phase 1</a:t>
            </a:r>
            <a:br/>
            <a:r>
              <a:t>W2–W4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Noto Sans TC"/>
              </a:defRPr>
            </a:pPr>
            <a:r>
              <a:t>問卷題目確認</a:t>
            </a:r>
            <a:br/>
            <a:r>
              <a:t>分流規則定義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2560320" cy="320040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2560320" cy="73152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85F4"/>
                </a:solidFill>
                <a:latin typeface="Noto Sans TC"/>
              </a:defRPr>
            </a:pPr>
            <a:r>
              <a:t>Phase 2</a:t>
            </a:r>
            <a:br/>
            <a:r>
              <a:t>W5–W7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Noto Sans TC"/>
              </a:defRPr>
            </a:pPr>
            <a:r>
              <a:t>社群內容風格指引</a:t>
            </a:r>
            <a:br/>
            <a:r>
              <a:t>各平台帳號權限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011680"/>
            <a:ext cx="2560320" cy="320040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40" y="2011680"/>
            <a:ext cx="2560320" cy="73152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Noto Sans TC"/>
              </a:defRPr>
            </a:pPr>
            <a:r>
              <a:t>Phase 3</a:t>
            </a:r>
            <a:br/>
            <a:r>
              <a:t>W8–W11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10896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Noto Sans TC"/>
              </a:defRPr>
            </a:pPr>
            <a:r>
              <a:t>培訓計畫素材</a:t>
            </a:r>
            <a:br/>
            <a:r>
              <a:t>營運指標定義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77840"/>
            <a:ext cx="10515600" cy="640080"/>
          </a:xfrm>
          <a:prstGeom prst="roundRect">
            <a:avLst>
              <a:gd name="adj" fmla="val 3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623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285F4"/>
                </a:solidFill>
                <a:latin typeface="Noto Sans TC"/>
              </a:defRPr>
            </a:pPr>
            <a:r>
              <a:t>「不是甩手給我們做，是一起把它做好。」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15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02124"/>
                </a:solidFill>
                <a:latin typeface="Noto Sans TC"/>
              </a:defRPr>
            </a:pPr>
            <a:r>
              <a:t>下一步 — 一起開始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286000"/>
          <a:ext cx="9144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51206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步驟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行動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時間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確認 POC 範圍 → 簽核 Charter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本週內</a:t>
                      </a:r>
                    </a:p>
                  </a:txBody>
                  <a:tcPr anchor="ctr"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確認報價與付款方式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本週內</a:t>
                      </a:r>
                    </a:p>
                  </a:txBody>
                  <a:tcPr anchor="ctr"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正式 Kick-off Meeting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2026-04-28</a:t>
                      </a:r>
                    </a:p>
                  </a:txBody>
                  <a:tcPr anchor="ctr"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第一個里程碑：基礎就緒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2026-05-04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F6368"/>
                </a:solidFill>
                <a:latin typeface="Noto Sans TC"/>
              </a:defRPr>
            </a:pPr>
            <a:r>
              <a:t>最終目標：2026-07-27 POC Demo — 三模組整合展示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669280"/>
            <a:ext cx="8503920" cy="73152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571500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285F4"/>
                </a:solidFill>
                <a:latin typeface="Noto Sans TC"/>
              </a:defRPr>
            </a:pPr>
            <a:r>
              <a:t>「好的系統不是取代人，是讓人做得更好。」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附錄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16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4"/>
                </a:solidFill>
                <a:latin typeface="Noto Sans TC"/>
              </a:defRPr>
            </a:pPr>
            <a:r>
              <a:t>完整功能清單（12 項）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35169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模組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優先級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貼文生成引擎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SEO 內容頁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9AA0A6"/>
                          </a:solidFill>
                          <a:latin typeface="Noto Sans TC"/>
                        </a:defRPr>
                      </a:pPr>
                      <a:r>
                        <a:t>P2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健康問卷系統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問卷結果研判表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產品建議表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名單標籤分級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分流規則引擎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月目標設定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6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績效看板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培訓執行追蹤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6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落後提醒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團隊儀表板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6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附錄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17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4"/>
                </a:solidFill>
                <a:latin typeface="Noto Sans TC"/>
              </a:defRPr>
            </a:pPr>
            <a:r>
              <a:t>技術架構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11680" cy="594360"/>
          </a:xfrm>
          <a:prstGeom prst="roundRect">
            <a:avLst>
              <a:gd name="adj" fmla="val 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TC"/>
              </a:defRPr>
            </a:pPr>
            <a:r>
              <a:t>前端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874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Noto Sans TC"/>
              </a:defRPr>
            </a:pPr>
            <a:r>
              <a:t>React 18/19 + Vite + Tailwind v4 + shadcn/ui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2011680" cy="594360"/>
          </a:xfrm>
          <a:prstGeom prst="roundRect">
            <a:avLst>
              <a:gd name="adj" fmla="val 5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TC"/>
              </a:defRPr>
            </a:pPr>
            <a:r>
              <a:t>後端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Noto Sans TC"/>
              </a:defRPr>
            </a:pPr>
            <a:r>
              <a:t>FastAPI + Python 3.12 + uv + Pydantic 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2011680" cy="594360"/>
          </a:xfrm>
          <a:prstGeom prst="roundRect">
            <a:avLst>
              <a:gd name="adj" fmla="val 5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TC"/>
              </a:defRPr>
            </a:pPr>
            <a:r>
              <a:t>AI 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429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Noto Sans TC"/>
              </a:defRPr>
            </a:pPr>
            <a:r>
              <a:t>LiteLLM → Gemini 2.5 Flash（可切換）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60520"/>
            <a:ext cx="2011680" cy="594360"/>
          </a:xfrm>
          <a:prstGeom prst="roundRect">
            <a:avLst>
              <a:gd name="adj" fmla="val 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TC"/>
              </a:defRPr>
            </a:pPr>
            <a:r>
              <a:t>資料庫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Noto Sans TC"/>
              </a:defRPr>
            </a:pPr>
            <a:r>
              <a:t>PostgreSQL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2011680" cy="594360"/>
          </a:xfrm>
          <a:prstGeom prst="roundRect">
            <a:avLst>
              <a:gd name="adj" fmla="val 5000"/>
            </a:avLst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TC"/>
              </a:defRPr>
            </a:pPr>
            <a:r>
              <a:t>自動化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Noto Sans TC"/>
              </a:defRPr>
            </a:pPr>
            <a:r>
              <a:t>n8n（多平台發布 + 問卷後續觸發）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15000"/>
            <a:ext cx="2011680" cy="594360"/>
          </a:xfrm>
          <a:prstGeom prst="roundRect">
            <a:avLst>
              <a:gd name="adj" fmla="val 5000"/>
            </a:avLst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760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TC"/>
              </a:defRPr>
            </a:pPr>
            <a:r>
              <a:t>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02124"/>
                </a:solidFill>
                <a:latin typeface="Noto Sans TC"/>
              </a:defRPr>
            </a:pPr>
            <a:r>
              <a:t>Docker Compose → 雲端（TBD）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附錄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18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4"/>
                </a:solidFill>
                <a:latin typeface="Noto Sans TC"/>
              </a:defRPr>
            </a:pPr>
            <a:r>
              <a:t>成功指標（Exit Criteria）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3891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類別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指標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目標值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權重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AI 貼文可用率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≥ 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4335"/>
                          </a:solidFill>
                          <a:latin typeface="Noto Sans TC"/>
                        </a:defRPr>
                      </a:pPr>
                      <a:r>
                        <a:t>MUST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1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排程發布成功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≥ 2 平台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4335"/>
                          </a:solidFill>
                          <a:latin typeface="Noto Sans TC"/>
                        </a:defRPr>
                      </a:pPr>
                      <a:r>
                        <a:t>MUST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名單分級準確率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≥ 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4335"/>
                          </a:solidFill>
                          <a:latin typeface="Noto Sans TC"/>
                        </a:defRPr>
                      </a:pPr>
                      <a:r>
                        <a:t>MUST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2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問卷→報告全流程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無需人工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4335"/>
                          </a:solidFill>
                          <a:latin typeface="Noto Sans TC"/>
                        </a:defRPr>
                      </a:pPr>
                      <a:r>
                        <a:t>MUST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模組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儀表板即時性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&lt; 5 分鐘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EA4335"/>
                          </a:solidFill>
                          <a:latin typeface="Noto Sans TC"/>
                        </a:defRPr>
                      </a:pPr>
                      <a:r>
                        <a:t>MUST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技術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API P95 延遲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&lt; 500ms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技術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測試覆蓋率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≥ 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商業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滿意度評分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≥ 4.0/5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商業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UAT 通過率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≥ 90%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15000"/>
            </a:avLst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Noto Sans TC"/>
              </a:defRPr>
            </a:pPr>
            <a:r>
              <a:t>附錄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AA0A6"/>
                </a:solidFill>
                <a:latin typeface="Noto Sans TC"/>
              </a:defRPr>
            </a:pPr>
            <a:r>
              <a:t>19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02124"/>
                </a:solidFill>
                <a:latin typeface="Noto Sans TC"/>
              </a:defRPr>
            </a:pPr>
            <a:r>
              <a:t>RACI 職責矩陣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決策事項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客戶 (Kuanwei)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開發團隊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Noto Sans TC"/>
                        </a:defRPr>
                      </a:pPr>
                      <a:r>
                        <a:t>備註</a:t>
                      </a:r>
                    </a:p>
                  </a:txBody>
                  <a:tcPr anchor="ctr">
                    <a:solidFill>
                      <a:srgbClr val="4285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功能範圍確認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A（核准）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R（建議）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5F6368"/>
                          </a:solidFill>
                          <a:latin typeface="Noto Sans TC"/>
                        </a:defRPr>
                      </a:pPr>
                      <a:r>
                        <a:t>有分歧時客戶拍板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技術選型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I（知情）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A（負責）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5F6368"/>
                          </a:solidFill>
                          <a:latin typeface="Noto Sans TC"/>
                        </a:defRPr>
                      </a:pPr>
                      <a:r>
                        <a:t>有疑慮可討論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問卷題目定義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R（負責）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C（諮詢）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5F6368"/>
                          </a:solidFill>
                          <a:latin typeface="Noto Sans TC"/>
                        </a:defRPr>
                      </a:pPr>
                      <a:r>
                        <a:t>業務領域知識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分流規則設定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A（核准）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R（實作）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5F6368"/>
                          </a:solidFill>
                          <a:latin typeface="Noto Sans TC"/>
                        </a:defRPr>
                      </a:pP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UI/UX 方向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C（諮詢）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A（負責）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5F6368"/>
                          </a:solidFill>
                          <a:latin typeface="Noto Sans TC"/>
                        </a:defRPr>
                      </a:pPr>
                      <a:r>
                        <a:t>可提供品牌素材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里程碑驗收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A（核准）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R（演示）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5F6368"/>
                          </a:solidFill>
                          <a:latin typeface="Noto Sans TC"/>
                        </a:defRPr>
                      </a:pPr>
                      <a:r>
                        <a:t>Gate Review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第三方服務選用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I（知情）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A（負責）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5F6368"/>
                          </a:solidFill>
                          <a:latin typeface="Noto Sans TC"/>
                        </a:defRPr>
                      </a:pPr>
                      <a:r>
                        <a:t>費用實報實銷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02124"/>
                          </a:solidFill>
                          <a:latin typeface="Noto Sans TC"/>
                        </a:defRPr>
                      </a:pPr>
                      <a:r>
                        <a:t>Go/No-Go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4285F4"/>
                          </a:solidFill>
                          <a:latin typeface="Noto Sans TC"/>
                        </a:defRPr>
                      </a:pPr>
                      <a:r>
                        <a:t>A（最終決定）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4A853"/>
                          </a:solidFill>
                          <a:latin typeface="Noto Sans TC"/>
                        </a:defRPr>
                      </a:pPr>
                      <a:r>
                        <a:t>R（提供建議）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5F6368"/>
                          </a:solidFill>
                          <a:latin typeface="Noto Sans TC"/>
                        </a:defRPr>
                      </a:pPr>
                      <a:r>
                        <a:t>基於 Exit Criteria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